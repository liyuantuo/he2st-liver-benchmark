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22" autoAdjust="0"/>
  </p:normalViewPr>
  <p:slideViewPr>
    <p:cSldViewPr snapToGrid="0" snapToObjects="1">
      <p:cViewPr>
        <p:scale>
          <a:sx n="125" d="100"/>
          <a:sy n="125" d="100"/>
        </p:scale>
        <p:origin x="1416" y="366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277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r>
              <a:t>2026-09-13：主基准改用 data/processed/gse240429_heg；仅训练 A1+B1 选 HEG200/HEG50。图像缓存仍为 gse240429/image。新增真实 DenseNet121 ST-Net 适配，MLP 单独列示。</a:t>
            </a:r>
          </a:p>
          <a:p>
            <a:r>
              <a:t>本轮续研：七种原基线之外新增自建ContextFusion及控制；结果见第6、9、11页，基因/切片/真值保持不变。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r>
              <a:t>2026-09-13：主基准改用 data/processed/gse240429_heg；仅训练 A1+B1 选 HEG200/HEG50。图像缓存仍为 gse240429/image。新增真实 DenseNet121 ST-Net 适配，MLP 单独列示。</a:t>
            </a:r>
          </a:p>
          <a:p>
            <a:r>
              <a:t>本轮续研：七种原基线之外新增自建ContextFusion及控制；结果见第6、9、11页，基因/切片/真值保持不变。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始压缩图：data/raw/GSE240429/GSM7697868–71_GEX_C73_[A1–D1]_Merged.tiff.gz。坐标CSV、barcode、features和matrix.mtx位于同一raw目录。右侧image/和arrays/的共同前缀是data/processed/gse240429/。arrays/C73_D1.npz含raw_counts、log_normalized、coordinates_xy、barcodes、genes。patch缓存与数组保持同一行序。</a:t>
            </a:r>
          </a:p>
          <a:p/>
          <a:p>
            <a:r>
              <a:t>2026-09-13：主基准改用 data/processed/gse240429_heg；仅训练 A1+B1 选 HEG200/HEG50。图像缓存仍为 gse240429/image。新增真实 DenseNet121 ST-Net 适配，MLP 单独列示。</a:t>
            </a:r>
          </a:p>
          <a:p>
            <a:r>
              <a:t>本轮续研：七种原基线之外新增自建ContextFusion及控制；结果见第6、9、11页，基因/切片/真值保持不变。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EEP取四切片各自top1000高变基因并集，共3467，留出第3切片；本项目只在训练集选200基因。ResSAT正式版新增SCC和HER2ST，不能仍说只有两套鼠脑。ST-Net原数据与HER2ST不是同一个队列。SCC来源GSE144240；HER2ST来源github.com/almaan/her2st。</a:t>
            </a:r>
          </a:p>
          <a:p/>
          <a:p>
            <a:r>
              <a:t>资料来源：</a:t>
            </a:r>
          </a:p>
          <a:p>
            <a:r>
              <a:t>BLEEP: https://proceedings.neurips.cc/paper_files/paper/2023/hash/df656d6ed77b565e8dcdfbf568aead0a-Abstract-Conference.html</a:t>
            </a:r>
          </a:p>
          <a:p>
            <a:r>
              <a:t>GEO: https://www.ncbi.nlm.nih.gov/geo/query/acc.cgi?acc=GSE240429</a:t>
            </a:r>
          </a:p>
          <a:p>
            <a:r>
              <a:t>ResSAT: https://link.springer.com/article/10.1186/s13059-026-04168-x</a:t>
            </a:r>
          </a:p>
          <a:p>
            <a:r>
              <a:t>ST-Net: https://www.nature.com/articles/s41551-020-0578-x</a:t>
            </a:r>
          </a:p>
          <a:p>
            <a:r>
              <a:t>Stem: https://openreview.net/forum?id=FtjLUHyZAO</a:t>
            </a:r>
          </a:p>
          <a:p>
            <a:r>
              <a:t>GenAR: https://arxiv.org/abs/2510.04315</a:t>
            </a:r>
          </a:p>
          <a:p>
            <a:r>
              <a:t>HEST: https://github.com/mahmoodlab/HEST</a:t>
            </a:r>
          </a:p>
          <a:p>
            <a:r>
              <a:t>2026-09-13：主基准改用 data/processed/gse240429_heg；仅训练 A1+B1 选 HEG200/HEG50。图像缓存仍为 gse240429/image。新增真实 DenseNet121 ST-Net 适配，MLP 单独列示。</a:t>
            </a:r>
          </a:p>
          <a:p>
            <a:r>
              <a:t>本轮续研：七种原基线之外新增自建ContextFusion及控制；结果见第6、9、11页，基因/切片/真值保持不变。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Kidney:Stem23切片22人，200基因，主测试20-0038(AKI)；GenAR测试NCBI697。HER2ST:Stem36切片8人，每片176–712spots，300 HMHVG或296 DEGs，测试B1；GenAR的HEST版共13594spots，测试SPA148。PRAD23切片2人，1418–4079spots/片，测试MEND145。健康鼠脑14切片4只雄鼠，2675–3617spots/片，测试NCBI667。GenAR额外ccRCC24片，测试INT2。不要未经核对把两版本样本ID强行对应。</a:t>
            </a:r>
          </a:p>
          <a:p/>
          <a:p>
            <a:r>
              <a:t>资料来源：</a:t>
            </a:r>
          </a:p>
          <a:p>
            <a:r>
              <a:t>BLEEP: https://proceedings.neurips.cc/paper_files/paper/2023/hash/df656d6ed77b565e8dcdfbf568aead0a-Abstract-Conference.html</a:t>
            </a:r>
          </a:p>
          <a:p>
            <a:r>
              <a:t>GEO: https://www.ncbi.nlm.nih.gov/geo/query/acc.cgi?acc=GSE240429</a:t>
            </a:r>
          </a:p>
          <a:p>
            <a:r>
              <a:t>ResSAT: https://link.springer.com/article/10.1186/s13059-026-04168-x</a:t>
            </a:r>
          </a:p>
          <a:p>
            <a:r>
              <a:t>ST-Net: https://www.nature.com/articles/s41551-020-0578-x</a:t>
            </a:r>
          </a:p>
          <a:p>
            <a:r>
              <a:t>Stem: https://openreview.net/forum?id=FtjLUHyZAO</a:t>
            </a:r>
          </a:p>
          <a:p>
            <a:r>
              <a:t>GenAR: https://arxiv.org/abs/2510.04315</a:t>
            </a:r>
          </a:p>
          <a:p>
            <a:r>
              <a:t>HEST: https://github.com/mahmoodlab/HEST</a:t>
            </a:r>
          </a:p>
          <a:p>
            <a:r>
              <a:t>2026-09-13：主基准改用 data/processed/gse240429_heg；仅训练 A1+B1 选 HEG200/HEG50。图像缓存仍为 gse240429/image。新增真实 DenseNet121 ST-Net 适配，MLP 单独列示。</a:t>
            </a:r>
          </a:p>
          <a:p>
            <a:r>
              <a:t>本轮续研：七种原基线之外新增自建ContextFusion及控制；结果见第6、9、11页，基因/切片/真值保持不变。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{"selected_by_C1": "ContextFusion-multiseed", "C1_candidates": {"ContextFusion-imagenet": 0.34849790852674156, "ContextFusion-scratch": 0.30375301958461093, "SingleView-control": 0.2896776676496053, "Context-RBF": 0.21470037505260542, "ContextFusion-multiseed": 0.3625670033667926}, "spatial_blocks": 24, "bootstrap_repeats": 300, "CI95": {"HEG200": [0.17781546310571214, 0.2723886243966052], "HEG50": [0.24521343166653445, 0.36964107652761635], "delta_HEG200_vs_STNet": [0.05515773895334308, 0.10566141132585165], "delta_HEG50_vs_STNet": [0.0662106549001879, 0.15454436260393617]}, "seed_mean": [0.21462378827977738, 0.29774386224935245], "seed_std": [0.005945042494502354, 0.0036923223075705294], "validation_predictability_spearman": {"moran6": 0.7241761044026102, "mean_count": 0.6468866721668043}, "interpretation": "Paired spatial block bootstrap conditional on one donor/slide; not independent-patient uncertainty.", "metrics": {"Image Ridge": {"HEG200": 0.0787265070846898, "HEG50": 0.1372009961951514, "MAE": 0.44898736476898193, "genes_above_05": 1, "HEG50_above_05": 0}, "MLP": {"HEG200": 0.05819176105222714, "HEG50": 0.11895944826178008, "MAE": 0.471435546875, "genes_above_05": 0, "HEG50_above_05": 0}, "BLEEP": {"HEG200": 0.09145391851460948, "HEG50": 0.1571272905274116, "MAE": 0.44069889187812805, "genes_above_05": 1, "HEG50_above_05": 0}, "ResSAT": {"HEG200": 0.12257384502309417, "HEG50": 0.1845630517402379, "MAE": 0.43934541940689087, "genes_above_05": 2, "HEG50_above_05": 1}, "GenAR": {"HEG200": 0.04924930730762332, "HEG50": 0.13104246126905905, "MAE": 0.45546379685401917, "genes_above_05": 0, "HEG50_above_05": 0}, "Stem": {"HEG200": 0.06677590004147531, "HEG50": 0.1183334024074842, "MAE": 0.47459176182746887, "genes_above_05": 0, "HEG50_above_05": 0}, "ST-Net (DenseNet121)": {"HEG200": 0.14716931742809872, "HEG50": 0.1977716428877935, "MAE": 0.43775689601898193, "genes_above_05": 2, "HEG50_above_05": 1}, "Context-RBF": {"HEG200": 0.13273172087593488, "HEG50": 0.18089789337575732, "MAE": 0.4633397161960602, "genes_above_05": 1, "HEG50_above_05": 0}, "ContextFusion-imagenet": {"HEG200": 0.2176447455432388, "HEG50": 0.30188049799901157, "MAE": 0.4331085681915283, "genes_above_05": 1, "HEG50_above_05": 0}, "ContextFusion-scratch": {"HEG200": 0.230177418060278, "HEG50": 0.3277762955328797, "MAE": 0.4197063744068146, "genes_above_05": 1, "HEG50_above_05": 0}, "SingleView-control": {"HEG200": 0.1940740100849783, "HEG50": 0.27904877831479563, "MAE": 0.43777021765708923, "genes_above_05": 1, "HEG50_above_05": 0}, "ContextFusion-multiseed": {"HEG200": 0.2301711032113697, "HEG50": 0.31557943512453657, "MAE": 0.42564135789871216, "genes_above_05": 1, "HEG50_above_05": 0}}}</a:t>
            </a:r>
          </a:p>
          <a:p>
            <a:r>
              <a:t>多种子行在seed42/17/83及等权均值中由C1选择，不能称所有重复都达到该值。新模型直接回归原面板log单位，不改变测试真值。不同方法的计算预算与输入视野仍有差异。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旧面板错误与Stem/GenAR/计分问题见05文档。当前面板固定不再更换。邻居RNA诊断使用验证集实测表达，不能作H&amp;E预测成绩；半计数拆分不是技术重复，也不是性能硬上限。</a:t>
            </a:r>
          </a:p>
          <a:p>
            <a:r>
              <a:t>同数据研究：https://link.springer.com/article/10.1186/s12859-026-06447-7；HEG 0.310，不同split/Harmony/gene panel，不可直接比数值。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https://link.springer.com/content/pdf/10.1186/s13059-026-04168-x_reference.pdf</a:t>
            </a:r>
          </a:p>
          <a:p>
            <a:r>
              <a:t>论文平均来自5次重复；本地为seed42单次，不等于完整多seed复现。SA预处理使用作者文件，SP是Methods重建，不能称逐字节复现。论文2000HVG/50HEG成绩都在PCA/Harmony重建空间，HEG是该HVG面板内按观察表达选的50个。联合预处理使用各section表达，是转导式口径，不能代表完全未见切片/患者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{"selection": {"selected": "new_weight_0.25", "best_new": "new_equal_ensemble", "validation": {"resnet18_ema": {"HEG200": 0.3302770729321789, "HEG50": 0.460176334475386, "MAE": 0.3297359049320221, "defined_genes": 200}, "efficientnet_b0_ema": {"HEG200": 0.34390374840979104, "HEG50": 0.477913857954419, "MAE": 0.33598029613494873, "defined_genes": 200}, "resnet18_spatial": {"HEG200": 0.31999979576825055, "HEG50": 0.4409568574023313, "MAE": 0.33713895082473755, "defined_genes": 200}, "new_equal_ensemble": {"HEG200": 0.34808131177742346, "HEG50": 0.47991254526608984, "MAE": 0.3322280943393707, "defined_genes": 200}, "previous_contextfusion": {"HEG200": 0.36256700346442317, "HEG50": 0.5007523051510586, "MAE": 0.32343289256095886, "defined_genes": 200}, "new_weight_0.25": {"HEG200": 0.3664771202064345, "HEG50": 0.5052154574820242, "MAE": 0.3249622881412506, "defined_genes": 200}, "new_weight_0.5": {"HEG200": 0.3641325174401151, "HEG50": 0.5016257641107916, "MAE": 0.3269425928592682, "defined_genes": 200}, "new_weight_0.75": {"HEG200": 0.3574285658386174, "HEG50": 0.49247711004537137, "MAE": 0.3293645977973938, "defined_genes": 200}}, "locked_unix": 1789333671.6410468}, "test": {"resnet18_ema": {"HEG200": 0.21821425889312482, "HEG50": 0.29465405320027044, "MAE": 0.4445563554763794, "defined_genes": 200}, "efficientnet_b0_ema": {"HEG200": 0.22738943182559856, "HEG50": 0.2998238230309891, "MAE": 0.43235334753990173, "defined_genes": 200}, "resnet18_spatial": {"HEG200": 0.20102515292906464, "HEG50": 0.26345357844045486, "MAE": 0.44318869709968567, "defined_genes": 200}, "new_equal_ensemble": {"HEG200": 0.22644805607258917, "HEG50": 0.29868887042924813, "MAE": 0.4368550777435303, "defined_genes": 200}, "previous_contextfusion": {"HEG200": 0.23017110321136972, "HEG50": 0.31557943512453646, "MAE": 0.42564135789871216, "defined_genes": 200}, "new_weight_0.25": {"HEG200": 0.23432192418049153, "HEG50": 0.3179922544318407, "MAE": 0.427432656288147, "defined_genes": 200}, "new_weight_0.5": {"HEG200": 0.2341644356061928, "HEG50": 0.3146925382543937, "MAE": 0.42991361021995544, "defined_genes": 200}, "new_weight_0.75": {"HEG200": 0.2311455770521234, "HEG50": 0.30770627616629115, "MAE": 0.43306857347488403, "defined_genes": 200}}}</a:t>
            </a:r>
          </a:p>
          <a:p>
            <a:r>
              <a:t>本批按C1选方案后才评价D1，但D1在整个项目历史中被反复查看，仍需独立供体外部测试。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由experiments/build_report_assets.py从冻结预测生成。最终为75%原三种子均值+25%新三模型均值；主结果固定D1 HEG200=0.2343219242,HEG50=0.3179922544。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作者：庹力元，59S2311，东南大学生命科学与技术学院，生物、计算机双学位学士。最终六模型权重重新推理最大差0。D1重复用于项目开发，未构成独立患者外部测试。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file:///D:\Code\H%26E%20Generation\data\processed\gse240429\tiff\C73_A1.tif" TargetMode="External"/><Relationship Id="rId4" Type="http://schemas.openxmlformats.org/officeDocument/2006/relationships/hyperlink" Target="file:///D:\Code\H%26E%20Generation\data\processed\gse240429\tiff\C73_B1.tif" TargetMode="External"/><Relationship Id="rId5" Type="http://schemas.openxmlformats.org/officeDocument/2006/relationships/hyperlink" Target="file:///D:\Code\H%26E%20Generation\data\processed\gse240429\tiff\C73_C1.tif" TargetMode="External"/><Relationship Id="rId6" Type="http://schemas.openxmlformats.org/officeDocument/2006/relationships/hyperlink" Target="file:///D:\Code\H%26E%20Generation\data\processed\gse240429\tiff\C73_D1.tif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201400" cy="46634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B71C1C"/>
                </a:solidFill>
                <a:latin typeface="Microsoft YaHei"/>
              </a:defRPr>
            </a:pPr>
            <a:r>
              <a:t>从 H&amp;E 图像预测空间基因表达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59536"/>
            <a:ext cx="11247120" cy="228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6344" y="978408"/>
            <a:ext cx="11155680" cy="594360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r>
              <a:rPr sz="1400">
                <a:latin typeface="Microsoft YaHei"/>
              </a:rPr>
              <a:t>庹力元  ·  学号59S2311  ·  2026.09.15</a:t>
            </a:r>
          </a:p>
          <a:p>
            <a:r>
              <a:rPr sz="1400">
                <a:latin typeface="Microsoft YaHei"/>
              </a:rPr>
              <a:t>东南大学生命科学与技术学院  ·  生物、计算机双学位学士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844784" cy="201168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真实图像与表达：GSE240429 / C73_D1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722376" cy="21945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01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611880" cy="384048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B71C1C"/>
                </a:solidFill>
                <a:latin typeface="Microsoft YaHei"/>
              </a:defRPr>
            </a:pPr>
            <a:r>
              <a:t>① 输入：H&amp;E + 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611880" cy="384048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B71C1C"/>
                </a:solidFill>
                <a:latin typeface="Microsoft YaHei"/>
              </a:defRPr>
            </a:pPr>
            <a:r>
              <a:t>② 模型预测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45920"/>
            <a:ext cx="3611880" cy="384048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B71C1C"/>
                </a:solidFill>
                <a:latin typeface="Microsoft YaHei"/>
              </a:defRPr>
            </a:pPr>
            <a:r>
              <a:t>③ 输出：基因表达</a:t>
            </a:r>
          </a:p>
        </p:txBody>
      </p:sp>
      <p:pic>
        <p:nvPicPr>
          <p:cNvPr id="10" name="Picture 9" descr="he_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41" y="2148840"/>
            <a:ext cx="2460117" cy="2514600"/>
          </a:xfrm>
          <a:prstGeom prst="rect">
            <a:avLst/>
          </a:prstGeom>
        </p:spPr>
      </p:pic>
      <p:pic>
        <p:nvPicPr>
          <p:cNvPr id="11" name="Picture 10" descr="example_p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926080"/>
            <a:ext cx="1188720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06624" y="4206240"/>
            <a:ext cx="1572768" cy="384048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224 × 224 图像块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2962656"/>
            <a:ext cx="457200" cy="566928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3000" b="1">
                <a:solidFill>
                  <a:srgbClr val="B71C1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2258568"/>
            <a:ext cx="3017520" cy="2487168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2386584"/>
            <a:ext cx="2670048" cy="42062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B71C1C"/>
                </a:solidFill>
                <a:latin typeface="Microsoft YaHei"/>
              </a:defRPr>
            </a:pPr>
            <a:r>
              <a:t>统一基线与自建集成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916936"/>
            <a:ext cx="2670048" cy="1728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62626"/>
                </a:solidFill>
                <a:latin typeface="Microsoft YaHei"/>
              </a:defRPr>
            </a:pPr>
            <a:r>
              <a:rPr dirty="0" err="1" sz="1600"/>
              <a:t>回归：Ridge/MLP/ST-Net</a:t>
            </a:r>
            <a:r>
              <a:rPr dirty="0" sz="1600"/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检索：BLEEP</a:t>
            </a: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空间建模：ResSAT</a:t>
            </a: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生成：GenAR</a:t>
            </a:r>
            <a:r>
              <a:rPr dirty="0"/>
              <a:t> / 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962656"/>
            <a:ext cx="457200" cy="566928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3000" b="1">
                <a:solidFill>
                  <a:srgbClr val="B71C1C"/>
                </a:solidFill>
                <a:latin typeface="Microsoft YaHei"/>
              </a:defRPr>
            </a:pPr>
            <a:r>
              <a:t>→</a:t>
            </a:r>
          </a:p>
        </p:txBody>
      </p:sp>
      <p:pic>
        <p:nvPicPr>
          <p:cNvPr id="18" name="Picture 17" descr="truth_GL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2084831"/>
            <a:ext cx="2633472" cy="2633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18120" y="4572000"/>
            <a:ext cx="3749039" cy="42062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GLUL 实测示例：一列 → 一张热图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5129784"/>
            <a:ext cx="10972800" cy="1024128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5294376"/>
            <a:ext cx="10515600" cy="384048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B71C1C"/>
                </a:solidFill>
                <a:latin typeface="Microsoft YaHei"/>
              </a:defRPr>
            </a:pPr>
            <a:r>
              <a:rPr dirty="0"/>
              <a:t>最终预测：2,265 </a:t>
            </a:r>
            <a:r>
              <a:rPr dirty="0" err="1"/>
              <a:t>个位置</a:t>
            </a:r>
            <a:r>
              <a:rPr dirty="0"/>
              <a:t> × 200 </a:t>
            </a:r>
            <a:r>
              <a:rPr dirty="0" err="1"/>
              <a:t>个基因</a:t>
            </a:r>
            <a:r>
              <a:rPr dirty="0"/>
              <a:t> = 453,000 </a:t>
            </a:r>
            <a:r>
              <a:rPr dirty="0" err="1"/>
              <a:t>个表达值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841248" y="5760720"/>
            <a:ext cx="10515600" cy="301752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训练时有实测表达作标签；测试时只提供图像与位置，实测表达留作评分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201400" cy="46634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B71C1C"/>
                </a:solidFill>
                <a:latin typeface="Microsoft YaHei"/>
              </a:defRPr>
            </a:pPr>
            <a:r>
              <a:t>统一 Benchmark 用的是什么数据？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59536"/>
            <a:ext cx="11247120" cy="228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6344" y="978408"/>
            <a:ext cx="11192256" cy="521207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GSE240429：同一人肝样本 C73 的 4 张连续切片；10x </a:t>
            </a:r>
            <a:r>
              <a:rPr dirty="0" err="1"/>
              <a:t>Visium，每个测量区域（spot）直径约</a:t>
            </a:r>
            <a:r>
              <a:rPr dirty="0"/>
              <a:t> 55 </a:t>
            </a:r>
            <a:r>
              <a:rPr dirty="0" err="1"/>
              <a:t>μm</a:t>
            </a:r>
            <a:r>
              <a:rPr dirty="0"/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844784" cy="201168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来源：BLEEP §3.1；data/processed/gse240429/manifest.json。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722376" cy="21945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02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746504"/>
            <a:ext cx="2688336" cy="2871216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1874519"/>
            <a:ext cx="2468880" cy="365760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B71C1C"/>
                </a:solidFill>
                <a:latin typeface="Microsoft YaHei"/>
              </a:defRPr>
            </a:pPr>
            <a:r>
              <a:t>A1 · 训练</a:t>
            </a:r>
          </a:p>
        </p:txBody>
      </p:sp>
      <p:pic>
        <p:nvPicPr>
          <p:cNvPr id="9" name="Picture 8" descr="he_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97" y="2295144"/>
            <a:ext cx="1711573" cy="1746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" y="4169663"/>
            <a:ext cx="2414016" cy="347472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62626"/>
                </a:solidFill>
                <a:latin typeface="Microsoft YaHei"/>
              </a:defRPr>
            </a:pPr>
            <a:r>
              <a:t>2,378 个位置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746504"/>
            <a:ext cx="2688336" cy="2871216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874519"/>
            <a:ext cx="2468880" cy="365760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B71C1C"/>
                </a:solidFill>
                <a:latin typeface="Microsoft YaHei"/>
              </a:defRPr>
            </a:pPr>
            <a:r>
              <a:t>B1 · 训练</a:t>
            </a:r>
          </a:p>
        </p:txBody>
      </p:sp>
      <p:pic>
        <p:nvPicPr>
          <p:cNvPr id="13" name="Picture 12" descr="he_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069" y="2295144"/>
            <a:ext cx="1714484" cy="1746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75304" y="4169663"/>
            <a:ext cx="2414016" cy="347472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62626"/>
                </a:solidFill>
                <a:latin typeface="Microsoft YaHei"/>
              </a:defRPr>
            </a:pPr>
            <a:r>
              <a:t>2,349 个位置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746504"/>
            <a:ext cx="2688336" cy="2871216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2468880" cy="365760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B71C1C"/>
                </a:solidFill>
                <a:latin typeface="Microsoft YaHei"/>
              </a:defRPr>
            </a:pPr>
            <a:r>
              <a:t>C1 · 验证</a:t>
            </a:r>
          </a:p>
        </p:txBody>
      </p:sp>
      <p:pic>
        <p:nvPicPr>
          <p:cNvPr id="17" name="Picture 16" descr="he_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9453" y="2295144"/>
            <a:ext cx="1711573" cy="17465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28232" y="4169663"/>
            <a:ext cx="2414016" cy="347472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62626"/>
                </a:solidFill>
                <a:latin typeface="Microsoft YaHei"/>
              </a:defRPr>
            </a:pPr>
            <a:r>
              <a:t>2,277 个位置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746504"/>
            <a:ext cx="2688336" cy="2871216"/>
          </a:xfrm>
          <a:prstGeom prst="roundRect">
            <a:avLst>
              <a:gd name="adj" fmla="val 6000"/>
            </a:avLst>
          </a:prstGeom>
          <a:solidFill>
            <a:srgbClr val="F9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53728" y="1874519"/>
            <a:ext cx="2468880" cy="365760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B71C1C"/>
                </a:solidFill>
                <a:latin typeface="Microsoft YaHei"/>
              </a:defRPr>
            </a:pPr>
            <a:r>
              <a:t>D1 · 测试</a:t>
            </a:r>
          </a:p>
        </p:txBody>
      </p:sp>
      <p:pic>
        <p:nvPicPr>
          <p:cNvPr id="21" name="Picture 20" descr="he_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3836" y="2295144"/>
            <a:ext cx="1708663" cy="17465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81160" y="4169663"/>
            <a:ext cx="2414016" cy="347472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62626"/>
                </a:solidFill>
                <a:latin typeface="Microsoft YaHei"/>
              </a:defRPr>
            </a:pPr>
            <a:r>
              <a:t>2,265 个位置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837176"/>
            <a:ext cx="10972800" cy="393192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B71C1C"/>
                </a:solidFill>
                <a:latin typeface="Microsoft YaHei"/>
              </a:defRPr>
            </a:pPr>
            <a:r>
              <a:rPr dirty="0" err="1"/>
              <a:t>训练</a:t>
            </a:r>
            <a:r>
              <a:rPr dirty="0"/>
              <a:t> 4,727  +  </a:t>
            </a:r>
            <a:r>
              <a:rPr dirty="0" err="1"/>
              <a:t>验证</a:t>
            </a:r>
            <a:r>
              <a:rPr dirty="0"/>
              <a:t> 2,277  +  </a:t>
            </a:r>
            <a:r>
              <a:rPr dirty="0" err="1"/>
              <a:t>测试</a:t>
            </a:r>
            <a:r>
              <a:rPr dirty="0"/>
              <a:t> 2,265  =  共 9,269 </a:t>
            </a:r>
            <a:r>
              <a:rPr dirty="0" err="1"/>
              <a:t>个位置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21792" y="5431536"/>
            <a:ext cx="10963656" cy="78638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62626"/>
                </a:solidFill>
                <a:latin typeface="Microsoft YaHei"/>
              </a:defRPr>
            </a:pPr>
            <a:r>
              <a:t>一个样本 = 图像块 + 坐标 + 200 个实测基因值，用同一位置编号（barcode）对齐。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62626"/>
                </a:solidFill>
                <a:latin typeface="Microsoft YaHei"/>
              </a:defRPr>
            </a:pPr>
            <a:r>
              <a:t>200 个高表达基因只从训练切片筛选；整张切片划分，测试位置不参与训练。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201400" cy="46634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B71C1C"/>
                </a:solidFill>
                <a:latin typeface="Microsoft YaHei"/>
              </a:defRPr>
            </a:pPr>
            <a:r>
              <a:t>下载的 H&amp;E 原图在哪里？数据怎样配成一对？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59536"/>
            <a:ext cx="11247120" cy="228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6344" y="978408"/>
            <a:ext cx="11192256" cy="521207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项目根目录：D:\Code\H&amp;E Generation\    ｜    下列路径均相对于这个目录。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844784" cy="201168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722376" cy="21945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03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746504"/>
            <a:ext cx="6309360" cy="4443984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892807"/>
            <a:ext cx="5852160" cy="393192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B71C1C"/>
                </a:solidFill>
                <a:latin typeface="Microsoft YaHei"/>
              </a:defRPr>
            </a:pPr>
            <a:r>
              <a:t>已解压的四张染色原图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441448"/>
            <a:ext cx="5824728" cy="347472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262626"/>
                </a:solidFill>
                <a:latin typeface="Microsoft YaHei"/>
              </a:defRPr>
            </a:pPr>
            <a:r>
              <a:rPr dirty="0"/>
              <a:t>data/processed/gse240429/tiff/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71800"/>
            <a:ext cx="5358384" cy="365760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262626"/>
                </a:solidFill>
                <a:latin typeface="Microsoft YaHei"/>
              </a:defRPr>
            </a:pPr>
            <a:r>
              <a:rPr>
                <a:hlinkClick r:id="rId3"/>
              </a:rPr>
              <a:t>C73_A1.tif     2.60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410712"/>
            <a:ext cx="5358384" cy="365760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262626"/>
                </a:solidFill>
                <a:latin typeface="Microsoft YaHei"/>
              </a:defRPr>
            </a:pPr>
            <a:r>
              <a:rPr>
                <a:hlinkClick r:id="rId4"/>
              </a:rPr>
              <a:t>C73_B1.tif     2.62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849624"/>
            <a:ext cx="5358384" cy="365760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262626"/>
                </a:solidFill>
                <a:latin typeface="Microsoft YaHei"/>
              </a:defRPr>
            </a:pPr>
            <a:r>
              <a:rPr>
                <a:hlinkClick r:id="rId5"/>
              </a:rPr>
              <a:t>C73_C1.tif     2.66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288536"/>
            <a:ext cx="5358384" cy="365760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262626"/>
                </a:solidFill>
                <a:latin typeface="Microsoft YaHei"/>
              </a:defRPr>
            </a:pPr>
            <a:r>
              <a:rPr>
                <a:hlinkClick r:id="rId6"/>
              </a:rPr>
              <a:t>C73_D1.tif     2.63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084064"/>
            <a:ext cx="5806440" cy="78638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下载压缩包：data/raw/GSE240429/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原图较大；PPT 使用同切片的低分辨率预览。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417320"/>
            <a:ext cx="4462272" cy="274320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图像目录保持不变；新标签来自 gse240429_heg/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0608" y="1746504"/>
            <a:ext cx="4443984" cy="1298448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24344" y="1874519"/>
            <a:ext cx="4096512" cy="42062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B71C1C"/>
                </a:solidFill>
                <a:latin typeface="Microsoft YaHei"/>
              </a:defRPr>
            </a:pPr>
            <a:r>
              <a:t>① H&amp;E → 图像块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4344" y="2404872"/>
            <a:ext cx="4096512" cy="53949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50" b="0">
                <a:solidFill>
                  <a:srgbClr val="262626"/>
                </a:solidFill>
                <a:latin typeface="Microsoft YaHei"/>
              </a:defRPr>
            </a:pPr>
            <a:r>
              <a:t>按坐标从 TIFF 裁 224 × 224 像素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50" b="0">
                <a:solidFill>
                  <a:srgbClr val="262626"/>
                </a:solidFill>
                <a:latin typeface="Microsoft YaHei"/>
              </a:defRPr>
            </a:pPr>
            <a:r>
              <a:t>image/C73_D1_patches_uint8.npy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0608" y="3227832"/>
            <a:ext cx="4443984" cy="1353312"/>
          </a:xfrm>
          <a:prstGeom prst="roundRect">
            <a:avLst>
              <a:gd name="adj" fmla="val 6000"/>
            </a:avLst>
          </a:prstGeom>
          <a:solidFill>
            <a:srgbClr val="ED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24344" y="3355848"/>
            <a:ext cx="4096512" cy="42062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B71C1C"/>
                </a:solidFill>
                <a:latin typeface="Microsoft YaHei"/>
              </a:defRPr>
            </a:pPr>
            <a:r>
              <a:t>② 实测计数 + 坐标 → 标签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3886200"/>
            <a:ext cx="4096512" cy="594360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matrix.mtx</a:t>
            </a:r>
            <a:r>
              <a:rPr dirty="0"/>
              <a:t> + barcode + </a:t>
            </a:r>
            <a:r>
              <a:rPr dirty="0" err="1"/>
              <a:t>位置</a:t>
            </a:r>
            <a:r>
              <a:rPr dirty="0"/>
              <a:t> CSV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按位置编号一一匹配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7150608" y="4709160"/>
            <a:ext cx="4443984" cy="1481328"/>
          </a:xfrm>
          <a:prstGeom prst="roundRect">
            <a:avLst>
              <a:gd name="adj" fmla="val 6000"/>
            </a:avLst>
          </a:prstGeom>
          <a:solidFill>
            <a:srgbClr val="F9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24344" y="4837176"/>
            <a:ext cx="4096512" cy="42062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B71C1C"/>
                </a:solidFill>
                <a:latin typeface="Microsoft YaHei"/>
              </a:defRPr>
            </a:pPr>
            <a:r>
              <a:t>③ 整理后 → 可直接训练的数据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5367528"/>
            <a:ext cx="4096512" cy="72237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62626"/>
                </a:solidFill>
                <a:latin typeface="Microsoft YaHei"/>
              </a:defRPr>
            </a:pPr>
            <a:r>
              <a:t>../gse240429_heg/arrays/C73_D1.npz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62626"/>
                </a:solidFill>
                <a:latin typeface="Microsoft YaHei"/>
              </a:defRPr>
            </a:pPr>
            <a:r>
              <a:t>表达 [2265, 200]；坐标 [2265, 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201400" cy="46634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B71C1C"/>
                </a:solidFill>
                <a:latin typeface="Microsoft YaHei"/>
              </a:defRPr>
            </a:pPr>
            <a:r>
              <a:t>原论文各用了什么数据？① 肝、鼠脑与乳腺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59536"/>
            <a:ext cx="11247120" cy="228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6344" y="978408"/>
            <a:ext cx="11192256" cy="521207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rPr dirty="0" err="1"/>
              <a:t>不能直接比较各论文表里的分数：组织、切片划分、预测基因数和评价方式都不相同</a:t>
            </a:r>
            <a:r>
              <a:rPr dirty="0"/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844784" cy="201168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722376" cy="21945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04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773936"/>
            <a:ext cx="3584448" cy="4315968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01952"/>
            <a:ext cx="3236976" cy="42062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B71C1C"/>
                </a:solidFill>
                <a:latin typeface="Microsoft YaHei"/>
              </a:defRPr>
            </a:pPr>
            <a:r>
              <a:t>BLEEP · 人肝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32304"/>
            <a:ext cx="3236976" cy="3557015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62626"/>
                </a:solidFill>
                <a:latin typeface="Microsoft YaHei"/>
              </a:defRPr>
            </a:pPr>
            <a:r>
              <a:rPr dirty="0"/>
              <a:t>GSE240429：4 </a:t>
            </a:r>
            <a:r>
              <a:rPr dirty="0" err="1"/>
              <a:t>张连续切片</a:t>
            </a: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62626"/>
                </a:solidFill>
                <a:latin typeface="Microsoft YaHei"/>
              </a:defRPr>
            </a:pPr>
            <a:r>
              <a:rPr dirty="0"/>
              <a:t>9,269 个位置；Visium，55 </a:t>
            </a:r>
            <a:r>
              <a:rPr dirty="0" err="1"/>
              <a:t>μm</a:t>
            </a: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原论文预测</a:t>
            </a:r>
            <a:r>
              <a:rPr dirty="0"/>
              <a:t> 3,467 </a:t>
            </a:r>
            <a:r>
              <a:rPr dirty="0" err="1"/>
              <a:t>个基因</a:t>
            </a: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62626"/>
                </a:solidFill>
                <a:latin typeface="Microsoft YaHei"/>
              </a:defRPr>
            </a:pP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本地：四张</a:t>
            </a:r>
            <a:r>
              <a:rPr dirty="0"/>
              <a:t> </a:t>
            </a:r>
            <a:r>
              <a:rPr dirty="0" err="1"/>
              <a:t>H&amp;E、表达均已下载</a:t>
            </a: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本次统一比较使用这套数据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25112" y="1773936"/>
            <a:ext cx="3621024" cy="4315968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901952"/>
            <a:ext cx="3273552" cy="42062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B71C1C"/>
                </a:solidFill>
                <a:latin typeface="Microsoft YaHei"/>
              </a:defRPr>
            </a:pPr>
            <a:r>
              <a:t>ResSAT · 鼠脑 + 人体组织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432304"/>
            <a:ext cx="3273552" cy="3557015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鼠脑前部</a:t>
            </a:r>
            <a:r>
              <a:rPr dirty="0"/>
              <a:t> </a:t>
            </a:r>
            <a:r>
              <a:rPr dirty="0" err="1"/>
              <a:t>SA、后部</a:t>
            </a:r>
            <a:r>
              <a:rPr dirty="0"/>
              <a:t> SP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62626"/>
                </a:solidFill>
                <a:latin typeface="Microsoft YaHei"/>
              </a:defRPr>
            </a:pPr>
            <a:r>
              <a:rPr dirty="0"/>
              <a:t>各 2 </a:t>
            </a:r>
            <a:r>
              <a:rPr dirty="0" err="1"/>
              <a:t>张；评测</a:t>
            </a:r>
            <a:r>
              <a:rPr dirty="0"/>
              <a:t> 2,000 </a:t>
            </a:r>
            <a:r>
              <a:rPr dirty="0" err="1"/>
              <a:t>个高变基因</a:t>
            </a: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62626"/>
                </a:solidFill>
                <a:latin typeface="Microsoft YaHei"/>
              </a:defRPr>
            </a:pPr>
            <a:r>
              <a:rPr lang="zh-CN" altLang="en-US" sz="1550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以及</a:t>
            </a:r>
            <a:r>
              <a:rPr dirty="0"/>
              <a:t>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SCC（皮肤鳞癌</a:t>
            </a:r>
            <a:r>
              <a:rPr dirty="0"/>
              <a:t>）：12 </a:t>
            </a:r>
            <a:r>
              <a:rPr dirty="0" err="1"/>
              <a:t>张中用</a:t>
            </a:r>
            <a:r>
              <a:rPr dirty="0"/>
              <a:t> 3 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62626"/>
                </a:solidFill>
                <a:latin typeface="Microsoft YaHei"/>
              </a:defRPr>
            </a:pPr>
            <a:r>
              <a:rPr dirty="0"/>
              <a:t>HER2ST（乳腺癌）：36 </a:t>
            </a:r>
            <a:r>
              <a:rPr dirty="0" err="1"/>
              <a:t>张中用</a:t>
            </a:r>
            <a:r>
              <a:rPr dirty="0"/>
              <a:t> 6 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62626"/>
                </a:solidFill>
                <a:latin typeface="Microsoft YaHei"/>
              </a:defRPr>
            </a:pP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本地：SA/SP 数据与模型均可用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7" y="1773936"/>
            <a:ext cx="3493008" cy="4315968"/>
          </a:xfrm>
          <a:prstGeom prst="roundRect">
            <a:avLst>
              <a:gd name="adj" fmla="val 6000"/>
            </a:avLst>
          </a:prstGeom>
          <a:solidFill>
            <a:srgbClr val="F9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3" y="1901952"/>
            <a:ext cx="3145536" cy="42062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B71C1C"/>
                </a:solidFill>
                <a:latin typeface="Microsoft YaHei"/>
              </a:defRPr>
            </a:pPr>
            <a:r>
              <a:rPr dirty="0"/>
              <a:t>ST-Net · </a:t>
            </a:r>
            <a:r>
              <a:rPr dirty="0" err="1"/>
              <a:t>乳腺癌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84463" y="2432304"/>
            <a:ext cx="3145536" cy="3557015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62626"/>
                </a:solidFill>
                <a:latin typeface="Microsoft YaHei"/>
              </a:defRPr>
            </a:pPr>
            <a:r>
              <a:rPr dirty="0"/>
              <a:t>23 位患者，68 </a:t>
            </a:r>
            <a:r>
              <a:rPr dirty="0" err="1"/>
              <a:t>张切片</a:t>
            </a: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62626"/>
                </a:solidFill>
                <a:latin typeface="Microsoft YaHei"/>
              </a:defRPr>
            </a:pPr>
            <a:r>
              <a:rPr dirty="0"/>
              <a:t>30,612 </a:t>
            </a:r>
            <a:r>
              <a:rPr dirty="0" err="1"/>
              <a:t>个位置；早期</a:t>
            </a:r>
            <a:r>
              <a:rPr dirty="0"/>
              <a:t> ST </a:t>
            </a:r>
            <a:r>
              <a:rPr dirty="0" err="1"/>
              <a:t>平台</a:t>
            </a: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测量区域约</a:t>
            </a:r>
            <a:r>
              <a:rPr dirty="0"/>
              <a:t> 100 </a:t>
            </a:r>
            <a:r>
              <a:rPr dirty="0" err="1"/>
              <a:t>μm</a:t>
            </a: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62626"/>
                </a:solidFill>
                <a:latin typeface="Microsoft YaHei"/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201400" cy="46634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B71C1C"/>
                </a:solidFill>
                <a:latin typeface="Microsoft YaHei"/>
              </a:defRPr>
            </a:pPr>
            <a:r>
              <a:t>原论文各用了什么数据？② Stem 与 GenAR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59536"/>
            <a:ext cx="11247120" cy="228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6344" y="978408"/>
            <a:ext cx="11192256" cy="521207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两者覆盖多组织；通过 HEST 整理或获取配对的 H&amp;E、空间表达矩阵及坐标。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844784" cy="201168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rPr dirty="0" err="1"/>
              <a:t>原文：Stem</a:t>
            </a:r>
            <a:r>
              <a:rPr dirty="0"/>
              <a:t> §5.1–5.2 / </a:t>
            </a:r>
            <a:r>
              <a:rPr dirty="0" err="1"/>
              <a:t>附录</a:t>
            </a:r>
            <a:r>
              <a:rPr dirty="0"/>
              <a:t> </a:t>
            </a:r>
            <a:r>
              <a:rPr dirty="0" err="1"/>
              <a:t>D；GenAR</a:t>
            </a:r>
            <a:r>
              <a:rPr dirty="0"/>
              <a:t> §4.1–4.2 / </a:t>
            </a:r>
            <a:r>
              <a:rPr dirty="0" err="1"/>
              <a:t>附录</a:t>
            </a:r>
            <a:r>
              <a:rPr dirty="0"/>
              <a:t> </a:t>
            </a:r>
            <a:r>
              <a:rPr dirty="0" err="1"/>
              <a:t>A（本地</a:t>
            </a:r>
            <a:r>
              <a:rPr dirty="0"/>
              <a:t> </a:t>
            </a:r>
            <a:r>
              <a:rPr dirty="0" err="1"/>
              <a:t>arXiv</a:t>
            </a:r>
            <a:r>
              <a:rPr dirty="0"/>
              <a:t> </a:t>
            </a:r>
            <a:r>
              <a:rPr dirty="0" err="1"/>
              <a:t>版本</a:t>
            </a:r>
            <a:r>
              <a:rPr dirty="0"/>
              <a:t>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722376" cy="21945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05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700784"/>
            <a:ext cx="2322576" cy="42976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2157984" cy="32918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数据集 / 组织</a:t>
            </a:r>
          </a:p>
        </p:txBody>
      </p:sp>
      <p:sp>
        <p:nvSpPr>
          <p:cNvPr id="9" name="Rectangle 8"/>
          <p:cNvSpPr/>
          <p:nvPr/>
        </p:nvSpPr>
        <p:spPr>
          <a:xfrm>
            <a:off x="2999232" y="1700784"/>
            <a:ext cx="3474720" cy="42976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90672" y="1737360"/>
            <a:ext cx="3310127" cy="32918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数据规模与内容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700784"/>
            <a:ext cx="4992624" cy="42976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828032" cy="329184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两篇论文怎么使用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221992"/>
            <a:ext cx="2322576" cy="6949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99716"/>
            <a:ext cx="2139696" cy="585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Kidney Visium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人肾脏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9232" y="2221992"/>
            <a:ext cx="3474720" cy="6949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90672" y="2299716"/>
            <a:ext cx="3291839" cy="585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23 张；健康 / 慢性肾病 / 急性肾损伤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315–4,159 spots/张；55 μm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2221992"/>
            <a:ext cx="4992624" cy="6949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299716"/>
            <a:ext cx="4809744" cy="585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rPr dirty="0"/>
              <a:t>Stem 实验：200 </a:t>
            </a:r>
            <a:r>
              <a:rPr dirty="0" err="1"/>
              <a:t>基因</a:t>
            </a:r>
            <a:endParaRPr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GenAR</a:t>
            </a:r>
            <a:r>
              <a:rPr dirty="0"/>
              <a:t> 实验：200 </a:t>
            </a:r>
            <a:r>
              <a:rPr dirty="0" err="1"/>
              <a:t>基因，测试</a:t>
            </a:r>
            <a:r>
              <a:rPr dirty="0"/>
              <a:t> NCBI697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2971800"/>
            <a:ext cx="2322576" cy="694944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049524"/>
            <a:ext cx="2139696" cy="585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rPr dirty="0"/>
              <a:t>HER2ST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rPr dirty="0"/>
              <a:t>HER2 </a:t>
            </a:r>
            <a:r>
              <a:rPr dirty="0" err="1"/>
              <a:t>阳性乳腺癌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2999232" y="2971800"/>
            <a:ext cx="3474720" cy="694944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90672" y="3049524"/>
            <a:ext cx="3291839" cy="585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原数据 36 张 / 8 人；100 μm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GenAR 所用版本共 13,594 spots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971800"/>
            <a:ext cx="4992624" cy="694944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049524"/>
            <a:ext cx="4809744" cy="585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Stem：300 高表达高变 / 296 差异基因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GenAR：200 基因，测试 SPA148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3721608"/>
            <a:ext cx="2322576" cy="6949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3799332"/>
            <a:ext cx="2139696" cy="585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rPr dirty="0"/>
              <a:t>PRAD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rPr dirty="0" err="1"/>
              <a:t>人前列腺癌</a:t>
            </a:r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2999232" y="3721608"/>
            <a:ext cx="3474720" cy="6949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90672" y="3799332"/>
            <a:ext cx="3291839" cy="585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23 张 / 2 人；Visium，55 μm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1,418–4,079 spots/张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3721608"/>
            <a:ext cx="4992624" cy="6949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3799332"/>
            <a:ext cx="4809744" cy="585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Stem 附加实验；GenAR 主实验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均报告测试切片 MEND145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4471416"/>
            <a:ext cx="2322576" cy="694944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4549140"/>
            <a:ext cx="2139696" cy="585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Healthy Mouse Brain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健康小鼠脑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99232" y="4471416"/>
            <a:ext cx="3474720" cy="694944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90672" y="4549140"/>
            <a:ext cx="3291839" cy="585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14 张 / 4 只小鼠；Visium，55 μm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2,675–3,617 spots/张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4471416"/>
            <a:ext cx="4992624" cy="694944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4549140"/>
            <a:ext cx="4809744" cy="585216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Stem 附加实验；GenAR 主实验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470" b="0">
                <a:solidFill>
                  <a:srgbClr val="262626"/>
                </a:solidFill>
                <a:latin typeface="Microsoft YaHei"/>
              </a:defRPr>
            </a:pPr>
            <a:r>
              <a:t>均报告测试切片 NCBI667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5367528"/>
            <a:ext cx="10881360" cy="365760"/>
          </a:xfrm>
          <a:prstGeom prst="rect">
            <a:avLst/>
          </a:prstGeom>
          <a:noFill/>
        </p:spPr>
        <p:txBody>
          <a:bodyPr wrap="square" lIns="13716" tIns="18288" rIns="13716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62626"/>
                </a:solidFill>
                <a:latin typeface="Microsoft YaHei"/>
              </a:defRPr>
            </a:pPr>
            <a:r>
              <a:t>补充：GenAR 还在附录验证了 ccRCC（肾透明细胞癌，24 张切片）。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B71C1C"/>
                </a:solidFill>
                <a:latin typeface="Microsoft YaHei"/>
              </a:defRPr>
            </a:pPr>
            <a:r>
              <a:t>前轮基准：七种基线与自建模型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28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978408"/>
            <a:ext cx="11173968" cy="57607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2026-09-13 已验证结果；本轮新增优化对照与最终选择见第9页。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56032"/>
            <a:ext cx="731520" cy="25603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06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473952"/>
            <a:ext cx="11064240" cy="22860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来源：results/liver_context_20260913/combined_benchmark.csv；单视野与冻结特征消融见第9页及完整报告。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09928"/>
            <a:ext cx="3657600" cy="36576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B71C1C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1688" y="1709928"/>
            <a:ext cx="1828800" cy="36576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B71C1C"/>
                </a:solidFill>
                <a:latin typeface="Microsoft YaHei"/>
              </a:defRPr>
            </a:pPr>
            <a:r>
              <a:t>HEG200 PCC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936" y="1709928"/>
            <a:ext cx="1828800" cy="36576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B71C1C"/>
                </a:solidFill>
                <a:latin typeface="Microsoft YaHei"/>
              </a:defRPr>
            </a:pPr>
            <a:r>
              <a:t>HEG50 PCC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709928"/>
            <a:ext cx="1280160" cy="36576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B71C1C"/>
                </a:solidFill>
                <a:latin typeface="Microsoft YaHei"/>
              </a:defRPr>
            </a:pPr>
            <a: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928" y="1709928"/>
            <a:ext cx="1417320" cy="36576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B71C1C"/>
                </a:solidFill>
                <a:latin typeface="Microsoft YaHei"/>
              </a:defRPr>
            </a:pPr>
            <a:r>
              <a:t>&gt;0.5 基因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35124"/>
            <a:ext cx="11045952" cy="32004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157984"/>
            <a:ext cx="36576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Image 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157984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0.0787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157984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0.1372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57984"/>
            <a:ext cx="128016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2157984"/>
            <a:ext cx="141732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1/200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59736"/>
            <a:ext cx="1104595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482596"/>
            <a:ext cx="36576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482596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0.0582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482596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0.1190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82596"/>
            <a:ext cx="128016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2482596"/>
            <a:ext cx="141732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0/200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84348"/>
            <a:ext cx="11045952" cy="32004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807208"/>
            <a:ext cx="36576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BLEEP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2807208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0.0915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807208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0.1571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807208"/>
            <a:ext cx="128016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2807208"/>
            <a:ext cx="141732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1/200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108960"/>
            <a:ext cx="1104595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3131820"/>
            <a:ext cx="36576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ResSAT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3131820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0.1226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3131820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0.1846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131820"/>
            <a:ext cx="128016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3131820"/>
            <a:ext cx="141732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2/200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433572"/>
            <a:ext cx="11045952" cy="32004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3456432"/>
            <a:ext cx="36576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GenAR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1688" y="3456432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0.0492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3456432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0.1310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456432"/>
            <a:ext cx="128016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928" y="3456432"/>
            <a:ext cx="141732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0/200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758183"/>
            <a:ext cx="1104595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3781044"/>
            <a:ext cx="36576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1688" y="3781044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0.0668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3781044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0.1183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3781044"/>
            <a:ext cx="128016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0928" y="3781044"/>
            <a:ext cx="141732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0/200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082796"/>
            <a:ext cx="11045952" cy="32004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4105656"/>
            <a:ext cx="36576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ST-Net / DenseNet121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61688" y="4105656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0.1472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45936" y="4105656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0.1978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4105656"/>
            <a:ext cx="128016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0.438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0928" y="4105656"/>
            <a:ext cx="141732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2/200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407407"/>
            <a:ext cx="11045952" cy="320040"/>
          </a:xfrm>
          <a:prstGeom prst="rect">
            <a:avLst/>
          </a:prstGeom>
          <a:solidFill>
            <a:srgbClr val="ED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8" y="4430268"/>
            <a:ext cx="36576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自建三尺度 / 预训练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61688" y="4430268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0.2176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45936" y="4430268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0.3019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4430268"/>
            <a:ext cx="128016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0.433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10928" y="4430268"/>
            <a:ext cx="141732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1/200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732019"/>
            <a:ext cx="11045952" cy="320040"/>
          </a:xfrm>
          <a:prstGeom prst="rect">
            <a:avLst/>
          </a:prstGeom>
          <a:solidFill>
            <a:srgbClr val="ED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" y="4754879"/>
            <a:ext cx="36576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自建三尺度 / 全随机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61688" y="4754879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0.2302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45936" y="4754879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0.3278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5320" y="4754879"/>
            <a:ext cx="128016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10928" y="4754879"/>
            <a:ext cx="141732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1/200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056631"/>
            <a:ext cx="11045952" cy="320040"/>
          </a:xfrm>
          <a:prstGeom prst="rect">
            <a:avLst/>
          </a:prstGeom>
          <a:solidFill>
            <a:srgbClr val="ED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" y="5079492"/>
            <a:ext cx="36576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62626"/>
                </a:solidFill>
                <a:latin typeface="Microsoft YaHei"/>
              </a:defRPr>
            </a:pPr>
            <a:r>
              <a:t>自建三尺度 / 多种子选择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61688" y="5079492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62626"/>
                </a:solidFill>
                <a:latin typeface="Microsoft YaHei"/>
              </a:defRPr>
            </a:pPr>
            <a:r>
              <a:t>0.2302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45936" y="5079492"/>
            <a:ext cx="182880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62626"/>
                </a:solidFill>
                <a:latin typeface="Microsoft YaHei"/>
              </a:defRPr>
            </a:pPr>
            <a:r>
              <a:t>0.3156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75320" y="5079492"/>
            <a:ext cx="128016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62626"/>
                </a:solidFill>
                <a:latin typeface="Microsoft YaHei"/>
              </a:defRPr>
            </a:pPr>
            <a:r>
              <a:t>0.426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10928" y="5079492"/>
            <a:ext cx="1417320" cy="283464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62626"/>
                </a:solidFill>
                <a:latin typeface="Microsoft YaHei"/>
              </a:defRPr>
            </a:pPr>
            <a:r>
              <a:t>1/200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2648" y="5650992"/>
            <a:ext cx="10972800" cy="47548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B71C1C"/>
                </a:solidFill>
                <a:latin typeface="Microsoft YaHei"/>
              </a:defRPr>
            </a:pPr>
            <a:r>
              <a:t>“单基因超过0.5”与“固定面板平均超过0.5”是两件事；完整逐基因结果全部保留。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B71C1C"/>
                </a:solidFill>
                <a:latin typeface="Microsoft YaHei"/>
              </a:defRPr>
            </a:pPr>
            <a:r>
              <a:t>低 PCC 的原因：已纠正的问题与本轮证据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28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978408"/>
            <a:ext cx="11173968" cy="57607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历史错误已经修复；剩余差距需用同条件实验解释，不能继续归咎于低表达基因。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56032"/>
            <a:ext cx="731520" cy="25603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07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473952"/>
            <a:ext cx="11064240" cy="22860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证据：docs/05_PCC_DIAGNOSIS.md、docs/06_LIVER_CONTEXT_IMPROVEMENT.md；所有控制与失败尝试均保存。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64792"/>
            <a:ext cx="5413248" cy="1965960"/>
          </a:xfrm>
          <a:prstGeom prst="roundRect">
            <a:avLst>
              <a:gd name="adj" fmla="val 6000"/>
            </a:avLst>
          </a:prstGeom>
          <a:solidFill>
            <a:srgbClr val="F9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74519"/>
            <a:ext cx="5102352" cy="4114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71C1C"/>
                </a:solidFill>
                <a:latin typeface="Microsoft YaHei"/>
              </a:defRPr>
            </a:pPr>
            <a:r>
              <a:t>① 高表达面板：已修正，不再换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59152"/>
            <a:ext cx="5102352" cy="13258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旧面板与 HEG200 重叠为0；现为训练集选基因。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D1 零值率已从24.70%降至3.45%。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当前低分不能全归因于之前选错基因。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764792"/>
            <a:ext cx="5468112" cy="1965960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874519"/>
            <a:ext cx="5157216" cy="4114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71C1C"/>
                </a:solidFill>
                <a:latin typeface="Microsoft YaHei"/>
              </a:defRPr>
            </a:pPr>
            <a:r>
              <a:t>② 训练目标与最终计分需要对齐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359152"/>
            <a:ext cx="5157216" cy="13258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旧模型学全转录组分母，评测却换200基因分母。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同多尺度 Ridge：D1 PCC 0.1018→0.1192。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修正确有帮助，但不足以单独解决差距。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22776"/>
            <a:ext cx="5413248" cy="2075688"/>
          </a:xfrm>
          <a:prstGeom prst="roundRect">
            <a:avLst>
              <a:gd name="adj" fmla="val 6000"/>
            </a:avLst>
          </a:prstGeom>
          <a:solidFill>
            <a:srgbClr val="ED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032504"/>
            <a:ext cx="5102352" cy="4114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71C1C"/>
                </a:solidFill>
                <a:latin typeface="Microsoft YaHei"/>
              </a:defRPr>
            </a:pPr>
            <a:r>
              <a:t>③ 能拟合训练信号，泛化仍不足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517136"/>
            <a:ext cx="5102352" cy="1435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三视野预训练模型的 HEG50 PCC：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训练0.608 → C1验证0.485 → D1测试0.302。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只加冻结特征回归头，未超过原ST-Net。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额外视野与新训练配方的作用见第9页。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922776"/>
            <a:ext cx="5468112" cy="2075688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4032504"/>
            <a:ext cx="5157216" cy="4114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71C1C"/>
                </a:solidFill>
                <a:latin typeface="Microsoft YaHei"/>
              </a:defRPr>
            </a:pPr>
            <a:r>
              <a:t>④ 计数差异有贡献，但并非全部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4517136"/>
            <a:ext cx="5157216" cy="1435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每spot UMI中位数：C1 12423；D1 6010。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C1降采样诊断：HEG200 0.348→0.303。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高表达仍不等于强空间变化、充足计数。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这些因素未能解释全部差距，非性能硬上限。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B71C1C"/>
                </a:solidFill>
                <a:latin typeface="Microsoft YaHei"/>
              </a:defRPr>
            </a:pPr>
            <a:r>
              <a:t>ResSAT 关键结果核验：高表达基因达到论文量级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28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978408"/>
            <a:ext cx="11173968" cy="57607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本轮从既有 checkpoint 重新推理并核验；SA 使用作者示例，SP 从原始 10x 数据按 Methods 重建。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56032"/>
            <a:ext cx="731520" cy="25603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08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473952"/>
            <a:ext cx="11064240" cy="22860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论文：Genome Biology 2026，Tables 1–2；本地：fresh_checkpoint_verification.json / ressat_recomputed.json。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4572000" cy="36576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B71C1C"/>
                </a:solidFill>
                <a:latin typeface="Microsoft YaHei"/>
              </a:defRPr>
            </a:pPr>
            <a:r>
              <a:t>指标 / 数据集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773936"/>
            <a:ext cx="1828800" cy="36576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B71C1C"/>
                </a:solidFill>
                <a:latin typeface="Microsoft YaHei"/>
              </a:defRPr>
            </a:pPr>
            <a:r>
              <a:t>论文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773936"/>
            <a:ext cx="2286000" cy="36576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B71C1C"/>
                </a:solidFill>
                <a:latin typeface="Microsoft YaHei"/>
              </a:defRPr>
            </a:pPr>
            <a:r>
              <a:t>本地重算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11018520" cy="438912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22576"/>
            <a:ext cx="4572000" cy="3566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62626"/>
                </a:solidFill>
                <a:latin typeface="Microsoft YaHei"/>
              </a:defRPr>
            </a:pPr>
            <a:r>
              <a:t>2,000 HVG · 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322576"/>
            <a:ext cx="1828800" cy="3566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62626"/>
                </a:solidFill>
                <a:latin typeface="Microsoft YaHei"/>
              </a:defRPr>
            </a:pPr>
            <a:r>
              <a:t>0.6577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322576"/>
            <a:ext cx="2286000" cy="3566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62626"/>
                </a:solidFill>
                <a:latin typeface="Microsoft YaHei"/>
              </a:defRPr>
            </a:pPr>
            <a:r>
              <a:t>0.6506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61488"/>
            <a:ext cx="11018520" cy="438912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98064"/>
            <a:ext cx="4572000" cy="3566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62626"/>
                </a:solidFill>
                <a:latin typeface="Microsoft YaHei"/>
              </a:defRPr>
            </a:pPr>
            <a:r>
              <a:t>2,000 HVG · 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798064"/>
            <a:ext cx="1828800" cy="3566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62626"/>
                </a:solidFill>
                <a:latin typeface="Microsoft YaHei"/>
              </a:defRPr>
            </a:pPr>
            <a:r>
              <a:t>0.6980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98064"/>
            <a:ext cx="2286000" cy="3566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62626"/>
                </a:solidFill>
                <a:latin typeface="Microsoft YaHei"/>
              </a:defRPr>
            </a:pPr>
            <a:r>
              <a:t>0.6667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236976"/>
            <a:ext cx="11018520" cy="438912"/>
          </a:xfrm>
          <a:prstGeom prst="rect">
            <a:avLst/>
          </a:prstGeom>
          <a:solidFill>
            <a:srgbClr val="ED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73552"/>
            <a:ext cx="4572000" cy="3566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62626"/>
                </a:solidFill>
                <a:latin typeface="Microsoft YaHei"/>
              </a:defRPr>
            </a:pPr>
            <a:r>
              <a:t>50 HEG · 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273552"/>
            <a:ext cx="1828800" cy="3566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62626"/>
                </a:solidFill>
                <a:latin typeface="Microsoft YaHei"/>
              </a:defRPr>
            </a:pPr>
            <a:r>
              <a:t>0.8781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273552"/>
            <a:ext cx="2286000" cy="3566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62626"/>
                </a:solidFill>
                <a:latin typeface="Microsoft YaHei"/>
              </a:defRPr>
            </a:pPr>
            <a:r>
              <a:t>0.8803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12463"/>
            <a:ext cx="11018520" cy="438912"/>
          </a:xfrm>
          <a:prstGeom prst="rect">
            <a:avLst/>
          </a:prstGeom>
          <a:solidFill>
            <a:srgbClr val="ED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49039"/>
            <a:ext cx="4572000" cy="3566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62626"/>
                </a:solidFill>
                <a:latin typeface="Microsoft YaHei"/>
              </a:defRPr>
            </a:pPr>
            <a:r>
              <a:t>50 HEG · 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749039"/>
            <a:ext cx="1828800" cy="3566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62626"/>
                </a:solidFill>
                <a:latin typeface="Microsoft YaHei"/>
              </a:defRPr>
            </a:pPr>
            <a:r>
              <a:t>0.8999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749039"/>
            <a:ext cx="2286000" cy="3566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62626"/>
                </a:solidFill>
                <a:latin typeface="Microsoft YaHei"/>
              </a:defRPr>
            </a:pPr>
            <a:r>
              <a:t>0.8930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462272"/>
            <a:ext cx="5413248" cy="1682496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4572000"/>
            <a:ext cx="5102352" cy="4114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71C1C"/>
                </a:solidFill>
                <a:latin typeface="Microsoft YaHei"/>
              </a:defRPr>
            </a:pPr>
            <a:r>
              <a:t>为什么不能拿 0.6980 要求人肝实验？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5056632"/>
            <a:ext cx="5102352" cy="10424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同一 SP 预测，改用未重建真值：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2,000 HVG PCC = 0.3240；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相同 50 HEG PCC = 0.7584。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4462272"/>
            <a:ext cx="5413248" cy="1682496"/>
          </a:xfrm>
          <a:prstGeom prst="roundRect">
            <a:avLst>
              <a:gd name="adj" fmla="val 6000"/>
            </a:avLst>
          </a:prstGeom>
          <a:solidFill>
            <a:srgbClr val="F9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572000"/>
            <a:ext cx="5102352" cy="4114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71C1C"/>
                </a:solidFill>
                <a:latin typeface="Microsoft YaHei"/>
              </a:defRPr>
            </a:pPr>
            <a:r>
              <a:t>复现结论与边界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056632"/>
            <a:ext cx="5102352" cy="1042416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高表达基因已接近论文量级。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本地是单 seed，SP 仍有预处理差异。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62626"/>
                </a:solidFill>
                <a:latin typeface="Microsoft YaHei"/>
              </a:defRPr>
            </a:pPr>
            <a:r>
              <a:t>人肝严格真值的成绩仍需继续提高。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B71C1C"/>
                </a:solidFill>
                <a:latin typeface="Microsoft YaHei"/>
              </a:defRPr>
            </a:pPr>
            <a:r>
              <a:t>新一轮优化：固定面板、验证选择、测试实测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28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978408"/>
            <a:ext cx="11173968" cy="57607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保持 A1+B1 / C1 / D1 与 HEG200 / HEG50；不改测试真值。三组新训练与全部混合候选均保留。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56032"/>
            <a:ext cx="731520" cy="25603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09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473952"/>
            <a:ext cx="11064240" cy="22860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来源：benchmarks/liver/optimization_20260914.csv；docs/RESULTS.md。EMA是候选权重，不保证被选中。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55648"/>
            <a:ext cx="3474720" cy="33832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B71C1C"/>
                </a:solidFill>
                <a:latin typeface="Microsoft YaHei"/>
              </a:defRPr>
            </a:pPr>
            <a:r>
              <a:t>候选方案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3087" y="1755648"/>
            <a:ext cx="1783080" cy="33832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B71C1C"/>
                </a:solidFill>
                <a:latin typeface="Microsoft YaHei"/>
              </a:defRPr>
            </a:pPr>
            <a:r>
              <a:t>C1 HEG200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7608" y="1755648"/>
            <a:ext cx="1783080" cy="33832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B71C1C"/>
                </a:solidFill>
                <a:latin typeface="Microsoft YaHei"/>
              </a:defRPr>
            </a:pPr>
            <a:r>
              <a:t>D1 HEG200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2" y="1755648"/>
            <a:ext cx="1737360" cy="33832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B71C1C"/>
                </a:solidFill>
                <a:latin typeface="Microsoft YaHei"/>
              </a:defRPr>
            </a:pPr>
            <a:r>
              <a:t>D1 HEG50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47504" y="1755648"/>
            <a:ext cx="1554480" cy="33832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B71C1C"/>
                </a:solidFill>
                <a:latin typeface="Microsoft YaHei"/>
              </a:defRPr>
            </a:pPr>
            <a:r>
              <a:t>D1 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94560"/>
            <a:ext cx="347472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ResNet18 / 新训练配方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194560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0.3303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2194560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2194560"/>
            <a:ext cx="173736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0.2947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47504" y="2194560"/>
            <a:ext cx="15544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347472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EfficientNet-B0 / 新配方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2523744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0.3439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8" y="2523744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0.2274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2523744"/>
            <a:ext cx="173736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0.2998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47504" y="2523744"/>
            <a:ext cx="15544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2852928"/>
            <a:ext cx="347472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ResNet18 / 训练标签平滑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2852928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0.3200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8" y="2852928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2852928"/>
            <a:ext cx="173736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0.2635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2852928"/>
            <a:ext cx="15544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182112"/>
            <a:ext cx="347472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三个新模型等权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7" y="3182112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0.3481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7608" y="3182112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0.2264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3182112"/>
            <a:ext cx="173736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0.2987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3182112"/>
            <a:ext cx="15544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511296"/>
            <a:ext cx="347472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上一轮多种子集成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7" y="3511296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0.3626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7608" y="3511296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0.2302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1272" y="3511296"/>
            <a:ext cx="173736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0.3156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47504" y="3511296"/>
            <a:ext cx="15544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822191"/>
            <a:ext cx="11064240" cy="320040"/>
          </a:xfrm>
          <a:prstGeom prst="rect">
            <a:avLst/>
          </a:prstGeom>
          <a:solidFill>
            <a:srgbClr val="ED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840479"/>
            <a:ext cx="347472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62626"/>
                </a:solidFill>
                <a:latin typeface="Microsoft YaHei"/>
              </a:defRPr>
            </a:pPr>
            <a:r>
              <a:t>新模型权重 25% 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33087" y="3840479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62626"/>
                </a:solidFill>
                <a:latin typeface="Microsoft YaHei"/>
              </a:defRPr>
            </a:pPr>
            <a:r>
              <a:t>0.3665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7608" y="3840479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62626"/>
                </a:solidFill>
                <a:latin typeface="Microsoft YaHei"/>
              </a:defRPr>
            </a:pPr>
            <a:r>
              <a:t>0.2343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3840479"/>
            <a:ext cx="173736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62626"/>
                </a:solidFill>
                <a:latin typeface="Microsoft YaHei"/>
              </a:defRPr>
            </a:pPr>
            <a:r>
              <a:t>0.3180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7504" y="3840479"/>
            <a:ext cx="15544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62626"/>
                </a:solidFill>
                <a:latin typeface="Microsoft YaHei"/>
              </a:defRPr>
            </a:pPr>
            <a:r>
              <a:t>0.427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4169664"/>
            <a:ext cx="347472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新模型权重 50%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33087" y="4169664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0.3641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07608" y="4169664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0.2342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1272" y="4169664"/>
            <a:ext cx="173736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0.3147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7504" y="4169664"/>
            <a:ext cx="15544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4498848"/>
            <a:ext cx="347472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新模型权重 75%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33087" y="4498848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0.3574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07608" y="4498848"/>
            <a:ext cx="17830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0.2311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91272" y="4498848"/>
            <a:ext cx="173736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0.3077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47504" y="4498848"/>
            <a:ext cx="155448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62626"/>
                </a:solidFill>
                <a:latin typeface="Microsoft YaHei"/>
              </a:defRPr>
            </a:pPr>
            <a:r>
              <a:t>0.433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010912"/>
            <a:ext cx="10972800" cy="36576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共同配方：warmup + 余弦学习率、EMA 候选、颜色增强；平滑组只修改训练监督。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504688"/>
            <a:ext cx="10972800" cy="43891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B71C1C"/>
                </a:solidFill>
                <a:latin typeface="Microsoft YaHei"/>
              </a:defRPr>
            </a:pPr>
            <a:r>
              <a:t>C1 最终选择的 D1：0.2343 / 0.3180；HEG200 较前轮 +0.0042。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980176"/>
            <a:ext cx="10972800" cy="292608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仅小幅改善：HEG50增益区间跨零，MAE略变差；固定面板平均仍未达到0.5。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B71C1C"/>
                </a:solidFill>
                <a:latin typeface="Microsoft YaHei"/>
              </a:defRPr>
            </a:pPr>
            <a:r>
              <a:t>最终空间预测：ALB 与 HP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28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978408"/>
            <a:ext cx="11173968" cy="57607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沿用训练表达排名前两位的示例；真值、ST-Net、原集成和最终集成共用坐标与色标。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56032"/>
            <a:ext cx="731520" cy="25603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473952"/>
            <a:ext cx="11064240" cy="22860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来源：report/figures/spatial_examples.png；展示色标截断不改变计分；个别图例不替代固定200/50基因的宏平均。</a:t>
            </a:r>
          </a:p>
        </p:txBody>
      </p:sp>
      <p:pic>
        <p:nvPicPr>
          <p:cNvPr id="7" name="Picture 6" descr="spatial_exampl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9692" y="1645920"/>
            <a:ext cx="9816998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B71C1C"/>
                </a:solidFill>
                <a:latin typeface="Microsoft YaHei"/>
              </a:defRPr>
            </a:pPr>
            <a:r>
              <a:t>最终集成：六个模型、固定权重、可复现结果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28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978408"/>
            <a:ext cx="11173968" cy="57607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加权平均发生在同一面板log表达空间；不平均PCC分数，不按测试基因分别调权重。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56032"/>
            <a:ext cx="731520" cy="256032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473952"/>
            <a:ext cx="11064240" cy="22860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完整报告：report/main.pdf（LaTeX源码main.tex）；组成与SHA256：benchmarks/liver/final_ensemble.json。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73936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83664"/>
            <a:ext cx="3346704" cy="4114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71C1C"/>
                </a:solidFill>
                <a:latin typeface="Microsoft YaHei"/>
              </a:defRPr>
            </a:pPr>
            <a:r>
              <a:t>① 原模型组 O：75%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68296"/>
            <a:ext cx="3346704" cy="128016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ResNet18：seed42 / 17 / 83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三者等权平均，再乘0.75。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每个原模型最终权重=1/4。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三尺度视野均端到端训练。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773936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ED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883664"/>
            <a:ext cx="3346704" cy="4114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71C1C"/>
                </a:solidFill>
                <a:latin typeface="Microsoft YaHei"/>
              </a:defRPr>
            </a:pPr>
            <a:r>
              <a:t>② 新模型组 N：25%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368296"/>
            <a:ext cx="3346704" cy="128016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ResNet18 / EfficientNet-B0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另一个ResNet18用训练标签平滑。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三者等权平均，再乘0.25。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每个新模型最终权重=1/12。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73936"/>
            <a:ext cx="3547872" cy="1920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883664"/>
            <a:ext cx="3236976" cy="4114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71C1C"/>
                </a:solidFill>
                <a:latin typeface="Microsoft YaHei"/>
              </a:defRPr>
            </a:pPr>
            <a:r>
              <a:t>③ C1锁定混合权重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368296"/>
            <a:ext cx="3236976" cy="128016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最终预测 = 0.75 O + 0.25 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比较新组25% / 50% / 75%。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C1 HEG200最高者为25%。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六模型均使用选定的原权重。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68496"/>
            <a:ext cx="5449824" cy="1965960"/>
          </a:xfrm>
          <a:prstGeom prst="roundRect">
            <a:avLst>
              <a:gd name="adj" fmla="val 6000"/>
            </a:avLst>
          </a:prstGeom>
          <a:solidFill>
            <a:srgbClr val="F9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078224"/>
            <a:ext cx="5138928" cy="4114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71C1C"/>
                </a:solidFill>
                <a:latin typeface="Microsoft YaHei"/>
              </a:defRPr>
            </a:pPr>
            <a:r>
              <a:t>④ 效果：有增益，但不是全面提升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562856"/>
            <a:ext cx="5138928" cy="13258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D1 HEG200/50：0.2343 / 0.3180。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较原集成 +0.0042 / +0.0024；MAE略变差。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HEG50增益区间跨零；固定均值仍未达0.5。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全随机单模型HEG50为0.3278，更高。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968496"/>
            <a:ext cx="5449824" cy="1965960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4078224"/>
            <a:ext cx="5138928" cy="4114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71C1C"/>
                </a:solidFill>
                <a:latin typeface="Microsoft YaHei"/>
              </a:defRPr>
            </a:pPr>
            <a:r>
              <a:t>⑤ 复现：直接从六份权重推理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562856"/>
            <a:ext cx="5138928" cy="1325880"/>
          </a:xfrm>
          <a:prstGeom prst="rect">
            <a:avLst/>
          </a:prstGeom>
          <a:noFill/>
        </p:spPr>
        <p:txBody>
          <a:bodyPr wrap="square" lIns="13716" rIns="13716" tIns="18288" bIns="18288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run.py ensemble --slides C73_D1 --output 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2265×200预测逐元素重现，最大差=0。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正式报告、源码、结果表与最终PPT一起记录。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62626"/>
                </a:solidFill>
                <a:latin typeface="Microsoft YaHei"/>
              </a:defRPr>
            </a:pPr>
            <a:r>
              <a:t>后续重点：独立供体、未查看的外部测试。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1671</Words>
  <Application>Microsoft Office PowerPoint</Application>
  <PresentationFormat>宽屏</PresentationFormat>
  <Paragraphs>212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H&amp;E 空间转录组生成研究：高表达基因 Benchmark 与 PCC 诊断</dc:title>
  <dc:subject>2026-09-13 liver context model follow-up; 11 slides</dc:subject>
  <dc:creator>庹力元</dc:creator>
  <cp:keywords/>
  <dc:description>generated using python-pptx</dc:description>
  <cp:lastModifiedBy>Liyuan Tuo</cp:lastModifiedBy>
  <cp:revision>53</cp:revision>
  <dcterms:created xsi:type="dcterms:W3CDTF">2013-01-27T09:14:16Z</dcterms:created>
  <dcterms:modified xsi:type="dcterms:W3CDTF">2026-09-08T08:46:08Z</dcterms:modified>
  <cp:category/>
</cp:coreProperties>
</file>